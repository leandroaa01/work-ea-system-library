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grupo e o tema: especificação algébrica de um sistema de biblioteca (Proposta 1) em Maude. Dizer que o foco é a especificação (assinatura + equações), não um sistema computacional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trabalho pede especificar, não implementar. O comportamento do sistema é definido só pela assinatura e pelas equações. Percorremos a cadeia inteira: descrição informal, abstração, assinatura, equações, termos (execução por reescrita) e propriedades. A pergunta central tem três partes: objetos, operações e leis; cada uma virou um elemento da especificação (sorts, operadores, equações).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livro tem identificação única e um status: disponível ou emprestado a um usuário. O empréstimo não é uma entidade separada: é o status do livro. As 11 funcionalidades viraram operadores, divididos em modificadores, predicados e consultas. Deixamos de fora, de propósito, datas, multas, reservas, renovação, múltiplos exemplares e concorrência; isso entra na análise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regra é imposta de um jeito: as de permissão viram guardas (predicados podeX?), R6 também é um invariante, e R7 é um invariante que provamos para todo estado. As regras extras E1 a E4 foram adicionadas e justificadas: evitam usuário ambíguo, empréstimo sem dono e mostram uma regra numérica com o limite 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Seguimos a organização do exemplo do Banco: módulos pequenos, em camadas, cada um com protecting. LIVRO-USUARIO define ids, status e item. ACERVO e USUARIOS definem as duas coleções. BIBLIOTECA junta tudo e define as operações públicas, guardas e invariantes. DIAGNOSTICO oferece versões com erro explícito.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Construtores, marcados com [ctor], geram todos os valores. Todo o resto é operador definido e tem equações que o reduzem a construtores. Essa separação é o que garante que cada termo fechado chega a uma forma normal só com construtores (suficiente completude), que verificamos empiricamente.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lista de livros é um monóide: a operação ponto e vírgula é associativa e nilA é o elemento neutro. Os atributos assoc e id nilA declaram isso. A consequência prática é que o padrão I ponto e vírgula A casa com qualquer acervo não vazio: I é o primeiro item e A é o resto, que pode ser nilA. Por isso bastam duas equações por operador recursivo. Usuarios é um segundo monóide, construído do mesmo jeito.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vez de uma tabela de empréstimos, cada item carrega o seu status. Isso garante que um livro tem um único dono, e torna R7 não trivial: contamos disponíveis e emprestados por equações separadas e comparamos com o total. Um usuário com vários livros são vários itens com emprestado de U; é o que livrosDe devolve.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operação sobre o acervo tem dois casos: o acervo vazio e cabeça mais resto. A tabela mostra como cobrimos os casos exigidos: normal, fronteira, estrutura vazia, não vazia e elemento que não existe. A busca devolve livroInexistente quando percorre tudo e não acha.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guarda podeEmprestar? junta R1, R2, E3 e E4. O modificador emprestar usa if then else: se a guarda é verdadeira, atualiza o status do livro; senão devolve o próprio estado. Isso é a política de operação inválida deixa o estado inalterado, a mesma do abrirConta e do sacar do exemplo do Banco. R3 está na equação de devolver, que chama definirStatus com disponivel.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inválidas seguem a mesma política: o estado fica inalterado. Além disso, o módulo DIAGNOSTICO devolve qual pré-condição falhou. Cobrimos as quatro situações pedidas no enunciado (emprestar inexistente, emprestar emprestado, devolver não emprestado, remover emprestado) e mais seis. Cada linha tem pelo menos um teste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Rodar: maude -no-banner demo-biblioteca.maude. Contar a história do lib1 antes: entra o Cthulhu, Ana pega três livros, Bruno pega e devolve o l3, Carla pega o l3. Mostrar os cinco resultados da tabela. O teste 55 mostra o erro explícito, e o 71 mostra o invariante falhando num estado montado à mão. Se o Maude falhar, mostrar docs/execucao/log-demo.txt (saída real).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derivação real extraída do set trace on, com um acervo de um livro (B). A guarda do addLivro reduz a true, o if escolhe o ramo then, e totalLivros reduz por totalA até 1 + 1 = 2, que é totalLivros(B) + 1. No total foram 20 reescritas. A explicação completa está na seção 8.3 do relatório.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provas são por indução estrutural sobre o acervo: caso base nilA, passo I ponto e vírgula A. P4 é a mais interessante: cada item é disponível ou emprestado, e em cada caso um lado da soma ganha 1, igual ao total. Como vale para todo acervo, R7 é preservada por qualquer operação. Observação honesta: o Maude não reduz propriedades com variável livre, por isso as provas são em papel e os testes validam instâncias.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saídas são reais, do Maude 3.5.1. Os 75 testes têm o resultado esperado escrito antes do reduce e um script confere automaticamente. O teste aleatório gera 2000 históricos de operações válidas e inválidas e confere quatro coisas em cada um. Para saber se o teste aleatório presta, quebramos o código de propósito (removemos a guarda do limite) e ele acusou 10 falhas.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especificação representa as 11 funcionalidades, as 7 regras e dez situações inválidas, com invariantes. O que não foi modelado são escolhas de abstração, não esquecimentos. Ser honesto sobre as limitações: a suficiente completude foi verificada de forma empírica e não com a ferramenta SCC; as provas são em papel; o limite de 3 empréstimos é arbitrário.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a cadeia: informal, abstração, assinatura, equações, termos, propriedades. O ponto central é que tudo é equacional: o comportamento sai só da assinatura e das equações. Agradecer e abrir para perguntas. Os slides de backup têm o significado formal dos mecanismos do Maude, caso perguntem.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apoio para perguntas. fmod dá a semântica da álgebra inicial. ctor só marca construtores. assoc e id formam o monóide. if_then_else_fi implementa as guardas. Não usamos ceq, owise nem rl: if cumpre o papel de ceq, os padrões são disjuntos (sem owise) e tudo é equacional (sem rl).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463040" cy="82296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Especificação Algébrica de um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Sistema de Biblioteca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C9D6E5"/>
                </a:solidFill>
                <a:latin typeface="Calibri"/>
              </a:rPr>
              <a:t>Uso das Estruturas Algébricas para a Especificação de Sistemas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C9D6E5"/>
                </a:solidFill>
                <a:latin typeface="Calibri"/>
              </a:rPr>
              <a:t>Implementação em Maude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3484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Carlos Alberto de Lima Neto  ·  Eduardo Nestor Ferreira Marinho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Guilherme Augusto Pondofe Santana  ·  Leandro Andrade de Araujo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Maria Fernanda Magalhaes Freitas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9FB3C8"/>
                </a:solidFill>
                <a:latin typeface="Calibri"/>
              </a:rPr>
              <a:t>UFRN  ·  Estruturas Algébricas  · 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Objetivo: do problema informal às propriedades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2</a:t>
            </a:r>
          </a:p>
        </p:txBody>
      </p:sp>
      <p:sp>
        <p:nvSpPr>
          <p:cNvPr id="6" name="Pentagon 5"/>
          <p:cNvSpPr/>
          <p:nvPr/>
        </p:nvSpPr>
        <p:spPr>
          <a:xfrm>
            <a:off x="548640" y="1417320"/>
            <a:ext cx="2011680" cy="868680"/>
          </a:xfrm>
          <a:prstGeom prst="homePlate">
            <a:avLst/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Descrição informal</a:t>
            </a:r>
          </a:p>
        </p:txBody>
      </p:sp>
      <p:sp>
        <p:nvSpPr>
          <p:cNvPr id="7" name="Chevron 6"/>
          <p:cNvSpPr/>
          <p:nvPr/>
        </p:nvSpPr>
        <p:spPr>
          <a:xfrm>
            <a:off x="2377440" y="1417320"/>
            <a:ext cx="2011680" cy="868680"/>
          </a:xfrm>
          <a:prstGeom prst="chevron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Abstração</a:t>
            </a:r>
          </a:p>
        </p:txBody>
      </p:sp>
      <p:sp>
        <p:nvSpPr>
          <p:cNvPr id="8" name="Chevron 7"/>
          <p:cNvSpPr/>
          <p:nvPr/>
        </p:nvSpPr>
        <p:spPr>
          <a:xfrm>
            <a:off x="4206240" y="1417320"/>
            <a:ext cx="2011680" cy="868680"/>
          </a:xfrm>
          <a:prstGeom prst="chevron">
            <a:avLst/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Assinatura</a:t>
            </a:r>
          </a:p>
        </p:txBody>
      </p:sp>
      <p:sp>
        <p:nvSpPr>
          <p:cNvPr id="9" name="Chevron 8"/>
          <p:cNvSpPr/>
          <p:nvPr/>
        </p:nvSpPr>
        <p:spPr>
          <a:xfrm>
            <a:off x="6035040" y="1417320"/>
            <a:ext cx="2011680" cy="868680"/>
          </a:xfrm>
          <a:prstGeom prst="chevron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Equações</a:t>
            </a:r>
          </a:p>
        </p:txBody>
      </p:sp>
      <p:sp>
        <p:nvSpPr>
          <p:cNvPr id="10" name="Chevron 9"/>
          <p:cNvSpPr/>
          <p:nvPr/>
        </p:nvSpPr>
        <p:spPr>
          <a:xfrm>
            <a:off x="7863840" y="1417320"/>
            <a:ext cx="2011680" cy="868680"/>
          </a:xfrm>
          <a:prstGeom prst="chevron">
            <a:avLst/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Termos</a:t>
            </a:r>
          </a:p>
        </p:txBody>
      </p:sp>
      <p:sp>
        <p:nvSpPr>
          <p:cNvPr id="11" name="Chevron 10"/>
          <p:cNvSpPr/>
          <p:nvPr/>
        </p:nvSpPr>
        <p:spPr>
          <a:xfrm>
            <a:off x="9692640" y="1417320"/>
            <a:ext cx="2011680" cy="868680"/>
          </a:xfrm>
          <a:prstGeom prst="chevron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Propriedades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A41"/>
                </a:solidFill>
                <a:latin typeface="Calibri"/>
              </a:rPr>
              <a:t>Pergunta central:</a:t>
            </a:r>
            <a:r>
              <a:rPr sz="2200" b="0">
                <a:solidFill>
                  <a:srgbClr val="1B2A41"/>
                </a:solidFill>
                <a:latin typeface="Calibri"/>
              </a:rPr>
              <a:t> quais são os objetos do sistema, quais operações podem ser feitas sobre eles e quais leis descrevem o comportamento dessas operações?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5760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600" b="1">
                <a:solidFill>
                  <a:srgbClr val="1B2A41"/>
                </a:solidFill>
                <a:latin typeface="Calibri"/>
              </a:rPr>
              <a:t>Objetos</a:t>
            </a:r>
          </a:p>
          <a:p>
            <a:pPr algn="ctr">
              <a:spcAft>
                <a:spcPts val="300"/>
              </a:spcAft>
            </a:pPr>
            <a:r>
              <a:rPr sz="2200" b="0">
                <a:solidFill>
                  <a:srgbClr val="1F8A70"/>
                </a:solidFill>
                <a:latin typeface="Calibri"/>
              </a:rPr>
              <a:t>↓</a:t>
            </a:r>
          </a:p>
          <a:p>
            <a:pPr algn="ctr">
              <a:spcAft>
                <a:spcPts val="300"/>
              </a:spcAft>
            </a:pPr>
            <a:r>
              <a:rPr sz="2400" b="1">
                <a:solidFill>
                  <a:srgbClr val="1F8A70"/>
                </a:solidFill>
                <a:latin typeface="Calibri"/>
              </a:rPr>
              <a:t>sorts</a:t>
            </a:r>
          </a:p>
          <a:p>
            <a:pPr algn="ctr">
              <a:spcAft>
                <a:spcPts val="300"/>
              </a:spcAft>
            </a:pPr>
            <a:r>
              <a:rPr sz="1700" b="0">
                <a:solidFill>
                  <a:srgbClr val="5B6573"/>
                </a:solidFill>
                <a:latin typeface="Calibri"/>
              </a:rPr>
              <a:t>livro, usuário, acervo, biblioteca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365760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600" b="1">
                <a:solidFill>
                  <a:srgbClr val="1B2A41"/>
                </a:solidFill>
                <a:latin typeface="Calibri"/>
              </a:rPr>
              <a:t>Operações</a:t>
            </a:r>
          </a:p>
          <a:p>
            <a:pPr algn="ctr">
              <a:spcAft>
                <a:spcPts val="300"/>
              </a:spcAft>
            </a:pPr>
            <a:r>
              <a:rPr sz="2200" b="0">
                <a:solidFill>
                  <a:srgbClr val="1F8A70"/>
                </a:solidFill>
                <a:latin typeface="Calibri"/>
              </a:rPr>
              <a:t>↓</a:t>
            </a:r>
          </a:p>
          <a:p>
            <a:pPr algn="ctr">
              <a:spcAft>
                <a:spcPts val="300"/>
              </a:spcAft>
            </a:pPr>
            <a:r>
              <a:rPr sz="2400" b="1">
                <a:solidFill>
                  <a:srgbClr val="1F8A70"/>
                </a:solidFill>
                <a:latin typeface="Calibri"/>
              </a:rPr>
              <a:t>operadores</a:t>
            </a:r>
          </a:p>
          <a:p>
            <a:pPr algn="ctr">
              <a:spcAft>
                <a:spcPts val="300"/>
              </a:spcAft>
            </a:pPr>
            <a:r>
              <a:rPr sz="1700" b="0">
                <a:solidFill>
                  <a:srgbClr val="5B6573"/>
                </a:solidFill>
                <a:latin typeface="Calibri"/>
              </a:rPr>
              <a:t>as 11 funcionalidades, mais guardas e consultas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65760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600" b="1">
                <a:solidFill>
                  <a:srgbClr val="1B2A41"/>
                </a:solidFill>
                <a:latin typeface="Calibri"/>
              </a:rPr>
              <a:t>Leis</a:t>
            </a:r>
          </a:p>
          <a:p>
            <a:pPr algn="ctr">
              <a:spcAft>
                <a:spcPts val="300"/>
              </a:spcAft>
            </a:pPr>
            <a:r>
              <a:rPr sz="2200" b="0">
                <a:solidFill>
                  <a:srgbClr val="1F8A70"/>
                </a:solidFill>
                <a:latin typeface="Calibri"/>
              </a:rPr>
              <a:t>↓</a:t>
            </a:r>
          </a:p>
          <a:p>
            <a:pPr algn="ctr">
              <a:spcAft>
                <a:spcPts val="300"/>
              </a:spcAft>
            </a:pPr>
            <a:r>
              <a:rPr sz="2400" b="1">
                <a:solidFill>
                  <a:srgbClr val="1F8A70"/>
                </a:solidFill>
                <a:latin typeface="Calibri"/>
              </a:rPr>
              <a:t>equações</a:t>
            </a:r>
          </a:p>
          <a:p>
            <a:pPr algn="ctr">
              <a:spcAft>
                <a:spcPts val="300"/>
              </a:spcAft>
            </a:pPr>
            <a:r>
              <a:rPr sz="1700" b="0">
                <a:solidFill>
                  <a:srgbClr val="5B6573"/>
                </a:solidFill>
                <a:latin typeface="Calibri"/>
              </a:rPr>
              <a:t>regras R1–R7 e extras E1–E4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B36"/>
                </a:solidFill>
                <a:latin typeface="Calibri"/>
              </a:rPr>
              <a:t>Escolha: </a:t>
            </a:r>
            <a:r>
              <a:rPr sz="1900" b="1">
                <a:solidFill>
                  <a:srgbClr val="222B36"/>
                </a:solidFill>
                <a:latin typeface="Calibri"/>
              </a:rPr>
              <a:t>Proposta 1 — Sistema de Biblioteca</a:t>
            </a:r>
            <a:r>
              <a:rPr sz="1900" b="0">
                <a:solidFill>
                  <a:srgbClr val="222B36"/>
                </a:solidFill>
                <a:latin typeface="Calibri"/>
              </a:rPr>
              <a:t>. Linguagem: </a:t>
            </a:r>
            <a:r>
              <a:rPr sz="1900" b="1">
                <a:solidFill>
                  <a:srgbClr val="222B36"/>
                </a:solidFill>
                <a:latin typeface="Calibri"/>
              </a:rPr>
              <a:t>Maude 3.5.1</a:t>
            </a:r>
            <a:r>
              <a:rPr sz="19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Abstração: o que modelamos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77840" cy="22067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4023360"/>
              </a:tblGrid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Entidade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Representação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Livro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item(id, título, status)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Usuário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usuario(Nat)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disponivel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|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emprestado(U)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Acervo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lista de itens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Biblioteca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biblioteca(Acervo, Usuarios)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371600"/>
          <a:ext cx="5303520" cy="4233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2651760"/>
                <a:gridCol w="2011680"/>
              </a:tblGrid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Funcionalidade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Operador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Adicionar livro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addLivro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Remover livro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removerLivro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Registrar usuário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registrarUsuario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Remover usuário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removerUsuario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Emprestar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emprestar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F6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Devolver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devolver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Livro no acervo?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pertence?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F8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Livro disponível?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disponivel?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Usuário tem o livro?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possui?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F10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Qtd no acervo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totalLivros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F11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Qtd emprestada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qtdEmprestados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944112"/>
            <a:ext cx="5577840" cy="1554480"/>
          </a:xfrm>
          <a:prstGeom prst="roundRect">
            <a:avLst>
              <a:gd name="adj" fmla="val 5000"/>
            </a:avLst>
          </a:prstGeom>
          <a:solidFill>
            <a:srgbClr val="FDF0E2"/>
          </a:solidFill>
          <a:ln w="1587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E07A1F"/>
                </a:solidFill>
                <a:latin typeface="Calibri"/>
              </a:rPr>
              <a:t>Ignorado de propósito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22B36"/>
                </a:solidFill>
                <a:latin typeface="Calibri"/>
              </a:rPr>
              <a:t>datas, multas, reservas, renovação, múltiplos exemplares por título, concorrência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Regras: R1–R7 e as extras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4233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572000"/>
                <a:gridCol w="5852160"/>
              </a:tblGrid>
              <a:tr h="35280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Imposta por  /  justificativa (extras)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Só empresta o que pertence ao acervo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guarda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podeEmprestar?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Não empresta o que já está emprestado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guarda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podeEmprestar?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Devolver torna o livro disponível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equação de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devolver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Só devolve quem tem o livro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guarda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podeDevolver?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Só remove livro disponível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guarda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podeRemoverLivro?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R6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Id de livro único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guarda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podeAddLivro?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+ invariante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idsUnicos?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R7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#disponíveis + #emprestados = #total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invariante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contagemOk?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E1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Não registrar usuário duplicado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usuário bem definido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E2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Não remover usuário com livros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evita empréstimo sem dono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Emprestar só a usuário registrado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consequência de E2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Limite de 3 empréstimos por usuário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exemplo de regra numérica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42432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573"/>
                </a:solidFill>
                <a:latin typeface="Calibri"/>
              </a:rPr>
              <a:t>R1–R7: regras do enunciado.  E1–E4: </a:t>
            </a:r>
            <a:r>
              <a:rPr sz="1600" b="1">
                <a:solidFill>
                  <a:srgbClr val="5B6573"/>
                </a:solidFill>
                <a:latin typeface="Calibri"/>
              </a:rPr>
              <a:t>extras</a:t>
            </a:r>
            <a:r>
              <a:rPr sz="1600" b="0">
                <a:solidFill>
                  <a:srgbClr val="5B6573"/>
                </a:solidFill>
                <a:latin typeface="Calibri"/>
              </a:rPr>
              <a:t>, adicionadas e justificadas pelo grupo.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Assinatura em camadas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2560320" cy="1463040"/>
          </a:xfrm>
          <a:prstGeom prst="roundRect">
            <a:avLst>
              <a:gd name="adj" fmla="val 8000"/>
            </a:avLst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LIVRO-USUARIO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IdLivro · IdUsuario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Status · Item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6002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ACERVO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Acervo · ItemOuErro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379476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USUARIOS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Usuarios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2560320"/>
            <a:ext cx="2194560" cy="1463040"/>
          </a:xfrm>
          <a:prstGeom prst="roundRect">
            <a:avLst>
              <a:gd name="adj" fmla="val 8000"/>
            </a:avLst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BIBLIOTECA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Biblioteca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560320"/>
            <a:ext cx="2194560" cy="1463040"/>
          </a:xfrm>
          <a:prstGeom prst="roundRect">
            <a:avLst>
              <a:gd name="adj" fmla="val 8000"/>
            </a:avLst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DIAGNOSTICO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Diagnostico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08960" y="2286000"/>
            <a:ext cx="640079" cy="822960"/>
          </a:xfrm>
          <a:prstGeom prst="line">
            <a:avLst/>
          </a:prstGeom>
          <a:ln w="28575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474720"/>
            <a:ext cx="640079" cy="914400"/>
          </a:xfrm>
          <a:prstGeom prst="line">
            <a:avLst/>
          </a:prstGeom>
          <a:ln w="28575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6480" y="2194560"/>
            <a:ext cx="640080" cy="822960"/>
          </a:xfrm>
          <a:prstGeom prst="line">
            <a:avLst/>
          </a:prstGeom>
          <a:ln w="28575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126480" y="3566160"/>
            <a:ext cx="640080" cy="822960"/>
          </a:xfrm>
          <a:prstGeom prst="line">
            <a:avLst/>
          </a:prstGeom>
          <a:ln w="28575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961120" y="3291840"/>
            <a:ext cx="548640" cy="0"/>
          </a:xfrm>
          <a:prstGeom prst="line">
            <a:avLst/>
          </a:prstGeom>
          <a:ln w="28575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B36"/>
                </a:solidFill>
                <a:latin typeface="Calibri"/>
              </a:rPr>
              <a:t>Subsorts: </a:t>
            </a:r>
            <a:r>
              <a:rPr sz="1700" b="0">
                <a:solidFill>
                  <a:srgbClr val="2F5D9B"/>
                </a:solidFill>
                <a:latin typeface="Consolas"/>
              </a:rPr>
              <a:t>Item &lt; Acervo</a:t>
            </a:r>
            <a:r>
              <a:rPr sz="1700" b="0">
                <a:solidFill>
                  <a:srgbClr val="222B36"/>
                </a:solidFill>
                <a:latin typeface="Calibri"/>
              </a:rPr>
              <a:t>, </a:t>
            </a:r>
            <a:r>
              <a:rPr sz="1700" b="0">
                <a:solidFill>
                  <a:srgbClr val="2F5D9B"/>
                </a:solidFill>
                <a:latin typeface="Consolas"/>
              </a:rPr>
              <a:t>Item &lt; ItemOuErro</a:t>
            </a:r>
            <a:r>
              <a:rPr sz="1700" b="0">
                <a:solidFill>
                  <a:srgbClr val="222B36"/>
                </a:solidFill>
                <a:latin typeface="Calibri"/>
              </a:rPr>
              <a:t>, </a:t>
            </a:r>
            <a:r>
              <a:rPr sz="1700" b="0">
                <a:solidFill>
                  <a:srgbClr val="2F5D9B"/>
                </a:solidFill>
                <a:latin typeface="Consolas"/>
              </a:rPr>
              <a:t>IdUsuario &lt; Usuarios</a:t>
            </a:r>
            <a:r>
              <a:rPr sz="1700" b="0">
                <a:solidFill>
                  <a:srgbClr val="222B36"/>
                </a:solidFill>
                <a:latin typeface="Calibri"/>
              </a:rPr>
              <a:t>   ·   Importados: </a:t>
            </a:r>
            <a:r>
              <a:rPr sz="1700" b="0">
                <a:solidFill>
                  <a:srgbClr val="2F5D9B"/>
                </a:solidFill>
                <a:latin typeface="Consolas"/>
              </a:rPr>
              <a:t>Nat</a:t>
            </a:r>
            <a:r>
              <a:rPr sz="1700" b="0">
                <a:solidFill>
                  <a:srgbClr val="222B36"/>
                </a:solidFill>
                <a:latin typeface="Calibri"/>
              </a:rPr>
              <a:t>, </a:t>
            </a:r>
            <a:r>
              <a:rPr sz="1700" b="0">
                <a:solidFill>
                  <a:srgbClr val="2F5D9B"/>
                </a:solidFill>
                <a:latin typeface="Consolas"/>
              </a:rPr>
              <a:t>String</a:t>
            </a:r>
            <a:r>
              <a:rPr sz="1700" b="0">
                <a:solidFill>
                  <a:srgbClr val="222B36"/>
                </a:solidFill>
                <a:latin typeface="Calibri"/>
              </a:rPr>
              <a:t>, </a:t>
            </a:r>
            <a:r>
              <a:rPr sz="1700" b="0">
                <a:solidFill>
                  <a:srgbClr val="2F5D9B"/>
                </a:solidFill>
                <a:latin typeface="Consolas"/>
              </a:rPr>
              <a:t>Bool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B36"/>
                </a:solidFill>
                <a:latin typeface="Calibri"/>
              </a:rPr>
              <a:t>Cada seta é um </a:t>
            </a:r>
            <a:r>
              <a:rPr sz="1700" b="0">
                <a:solidFill>
                  <a:srgbClr val="2F5D9B"/>
                </a:solidFill>
                <a:latin typeface="Consolas"/>
              </a:rPr>
              <a:t>protecting</a:t>
            </a:r>
            <a:r>
              <a:rPr sz="1700" b="0">
                <a:solidFill>
                  <a:srgbClr val="222B36"/>
                </a:solidFill>
                <a:latin typeface="Calibri"/>
              </a:rPr>
              <a:t>: importa o módulo sem criar nem colapsar valores dele.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Construtores × operadores definidos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1F8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50292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F8A70"/>
                </a:solidFill>
                <a:latin typeface="Calibri"/>
              </a:rPr>
              <a:t>Construtores  </a:t>
            </a:r>
            <a:r>
              <a:rPr sz="2400" b="1">
                <a:solidFill>
                  <a:srgbClr val="1F8A70"/>
                </a:solidFill>
                <a:latin typeface="Consolas"/>
              </a:rPr>
              <a:t>[ctor]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02920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livro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usuario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disponivel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emprestado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item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nilA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_;_</a:t>
            </a:r>
            <a:r>
              <a:rPr sz="1900" b="0">
                <a:solidFill>
                  <a:srgbClr val="222B36"/>
                </a:solidFill>
                <a:latin typeface="Calibri"/>
              </a:rPr>
              <a:t>  (acervo)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nilU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_&amp;_</a:t>
            </a:r>
            <a:r>
              <a:rPr sz="1900" b="0">
                <a:solidFill>
                  <a:srgbClr val="222B36"/>
                </a:solidFill>
                <a:latin typeface="Calibri"/>
              </a:rPr>
              <a:t>  (usuários)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biblioteca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livroInexistente</a:t>
            </a:r>
          </a:p>
          <a:p>
            <a:pPr algn="l" marL="256032" indent="-256032">
              <a:spcAft>
                <a:spcPts val="300"/>
              </a:spcAft>
              <a:buChar char="•"/>
            </a:pPr>
            <a:r>
              <a:rPr sz="1900" b="0">
                <a:solidFill>
                  <a:srgbClr val="2F5D9B"/>
                </a:solidFill>
                <a:latin typeface="Consolas"/>
              </a:rPr>
              <a:t>ok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err…</a:t>
            </a:r>
            <a:r>
              <a:rPr sz="1900" b="0">
                <a:solidFill>
                  <a:srgbClr val="222B36"/>
                </a:solidFill>
                <a:latin typeface="Calibri"/>
              </a:rPr>
              <a:t>  (diagnóstico)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573"/>
                </a:solidFill>
                <a:latin typeface="Calibri"/>
              </a:rPr>
              <a:t>Geram todos os valores canônicos.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94960" cy="44805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2F5D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81328"/>
            <a:ext cx="50292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F5D9B"/>
                </a:solidFill>
                <a:latin typeface="Calibri"/>
              </a:rPr>
              <a:t>Definidos  (sem </a:t>
            </a:r>
            <a:r>
              <a:rPr sz="2400" b="1">
                <a:solidFill>
                  <a:srgbClr val="2F5D9B"/>
                </a:solidFill>
                <a:latin typeface="Consolas"/>
              </a:rPr>
              <a:t>[ctor]</a:t>
            </a:r>
            <a:r>
              <a:rPr sz="2400" b="1">
                <a:solidFill>
                  <a:srgbClr val="2F5D9B"/>
                </a:solidFill>
                <a:latin typeface="Calibri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02920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Projeções: </a:t>
            </a:r>
            <a:r>
              <a:rPr sz="1900" b="0">
                <a:solidFill>
                  <a:srgbClr val="2F5D9B"/>
                </a:solidFill>
                <a:latin typeface="Consolas"/>
              </a:rPr>
              <a:t>getId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getTitulo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getStatus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Consultas: </a:t>
            </a:r>
            <a:r>
              <a:rPr sz="1900" b="0">
                <a:solidFill>
                  <a:srgbClr val="2F5D9B"/>
                </a:solidFill>
                <a:latin typeface="Consolas"/>
              </a:rPr>
              <a:t>totalLivros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pertence?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buscar</a:t>
            </a:r>
            <a:r>
              <a:rPr sz="1900" b="0">
                <a:solidFill>
                  <a:srgbClr val="222B36"/>
                </a:solidFill>
                <a:latin typeface="Calibri"/>
              </a:rPr>
              <a:t>…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Guardas: </a:t>
            </a:r>
            <a:r>
              <a:rPr sz="1900" b="0">
                <a:solidFill>
                  <a:srgbClr val="2F5D9B"/>
                </a:solidFill>
                <a:latin typeface="Consolas"/>
              </a:rPr>
              <a:t>podeEmprestar?</a:t>
            </a:r>
            <a:r>
              <a:rPr sz="1900" b="0">
                <a:solidFill>
                  <a:srgbClr val="222B36"/>
                </a:solidFill>
                <a:latin typeface="Calibri"/>
              </a:rPr>
              <a:t>…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Modificadores: </a:t>
            </a:r>
            <a:r>
              <a:rPr sz="1900" b="0">
                <a:solidFill>
                  <a:srgbClr val="2F5D9B"/>
                </a:solidFill>
                <a:latin typeface="Consolas"/>
              </a:rPr>
              <a:t>addLivro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emprestar</a:t>
            </a:r>
            <a:r>
              <a:rPr sz="1900" b="0">
                <a:solidFill>
                  <a:srgbClr val="222B36"/>
                </a:solidFill>
                <a:latin typeface="Calibri"/>
              </a:rPr>
              <a:t>…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Invariantes: </a:t>
            </a:r>
            <a:r>
              <a:rPr sz="1900" b="0">
                <a:solidFill>
                  <a:srgbClr val="2F5D9B"/>
                </a:solidFill>
                <a:latin typeface="Consolas"/>
              </a:rPr>
              <a:t>idsUnicos?</a:t>
            </a:r>
            <a:r>
              <a:rPr sz="1900" b="0">
                <a:solidFill>
                  <a:srgbClr val="222B36"/>
                </a:solidFill>
                <a:latin typeface="Calibri"/>
              </a:rPr>
              <a:t>, </a:t>
            </a:r>
            <a:r>
              <a:rPr sz="1900" b="0">
                <a:solidFill>
                  <a:srgbClr val="2F5D9B"/>
                </a:solidFill>
                <a:latin typeface="Consolas"/>
              </a:rPr>
              <a:t>invariante?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Diagnóstico: </a:t>
            </a:r>
            <a:r>
              <a:rPr sz="1900" b="0">
                <a:solidFill>
                  <a:srgbClr val="2F5D9B"/>
                </a:solidFill>
                <a:latin typeface="Consolas"/>
              </a:rPr>
              <a:t>diagEmprestar</a:t>
            </a:r>
            <a:r>
              <a:rPr sz="1900" b="0">
                <a:solidFill>
                  <a:srgbClr val="222B36"/>
                </a:solidFill>
                <a:latin typeface="Calibri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50292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573"/>
                </a:solidFill>
                <a:latin typeface="Calibri"/>
              </a:rPr>
              <a:t>Cada um tem equações que o reduzem a construtores.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O acervo é um monóide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6583680" cy="133502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5448" rIns="155448" tIns="109728" b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>
                <a:solidFill>
                  <a:srgbClr val="FFA657"/>
                </a:solidFill>
                <a:latin typeface="Consolas"/>
              </a:rPr>
              <a:t>op</a:t>
            </a:r>
            <a:r>
              <a:rPr sz="2400">
                <a:solidFill>
                  <a:srgbClr val="E6EDF3"/>
                </a:solidFill>
                <a:latin typeface="Consolas"/>
              </a:rPr>
              <a:t> nilA : -&gt; Acervo </a:t>
            </a:r>
            <a:r>
              <a:rPr sz="2400">
                <a:solidFill>
                  <a:srgbClr val="56D3B0"/>
                </a:solidFill>
                <a:latin typeface="Consolas"/>
              </a:rPr>
              <a:t>[ctor]</a:t>
            </a:r>
            <a:r>
              <a:rPr sz="2400">
                <a:solidFill>
                  <a:srgbClr val="E6EDF3"/>
                </a:solidFill>
                <a:latin typeface="Consolas"/>
              </a:rPr>
              <a:t>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>
                <a:solidFill>
                  <a:srgbClr val="FFA657"/>
                </a:solidFill>
                <a:latin typeface="Consolas"/>
              </a:rPr>
              <a:t>op</a:t>
            </a:r>
            <a:r>
              <a:rPr sz="2400">
                <a:solidFill>
                  <a:srgbClr val="E6EDF3"/>
                </a:solidFill>
                <a:latin typeface="Consolas"/>
              </a:rPr>
              <a:t> _;_ : Acervo Acervo -&gt; Acervo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>
                <a:solidFill>
                  <a:srgbClr val="E6EDF3"/>
                </a:solidFill>
                <a:latin typeface="Consolas"/>
              </a:rPr>
              <a:t>         </a:t>
            </a:r>
            <a:r>
              <a:rPr sz="2400">
                <a:solidFill>
                  <a:srgbClr val="56D3B0"/>
                </a:solidFill>
                <a:latin typeface="Consolas"/>
              </a:rPr>
              <a:t>[ctor assoc id: nilA]</a:t>
            </a:r>
            <a:r>
              <a:rPr sz="2400">
                <a:solidFill>
                  <a:srgbClr val="E6EDF3"/>
                </a:solidFill>
                <a:latin typeface="Consolas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163824"/>
          <a:ext cx="6583680" cy="128320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206240"/>
              </a:tblGrid>
              <a:tr h="427735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Lei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Significado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427735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2F5D9B"/>
                          </a:solidFill>
                          <a:latin typeface="Consolas"/>
                        </a:rPr>
                        <a:t>assoc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2F5D9B"/>
                          </a:solidFill>
                          <a:latin typeface="Consolas"/>
                        </a:rPr>
                        <a:t>(a ; b) ; c = a ; (b ; 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7735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2F5D9B"/>
                          </a:solidFill>
                          <a:latin typeface="Consolas"/>
                        </a:rPr>
                        <a:t>id: nilA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000" b="0">
                          <a:solidFill>
                            <a:srgbClr val="2F5D9B"/>
                          </a:solidFill>
                          <a:latin typeface="Consolas"/>
                        </a:rPr>
                        <a:t>nilA ; a = a = a ; nilA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1417320"/>
            <a:ext cx="4206240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22B36"/>
                </a:solidFill>
                <a:latin typeface="Calibri"/>
              </a:rPr>
              <a:t>Consequências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B36"/>
                </a:solidFill>
                <a:latin typeface="Calibri"/>
              </a:rPr>
              <a:t>Parênteses de </a:t>
            </a:r>
            <a:r>
              <a:rPr sz="2000" b="0">
                <a:solidFill>
                  <a:srgbClr val="2F5D9B"/>
                </a:solidFill>
                <a:latin typeface="Consolas"/>
              </a:rPr>
              <a:t>;</a:t>
            </a:r>
            <a:r>
              <a:rPr sz="2000" b="0">
                <a:solidFill>
                  <a:srgbClr val="222B36"/>
                </a:solidFill>
                <a:latin typeface="Calibri"/>
              </a:rPr>
              <a:t> não importam e </a:t>
            </a:r>
            <a:r>
              <a:rPr sz="2000" b="0">
                <a:solidFill>
                  <a:srgbClr val="2F5D9B"/>
                </a:solidFill>
                <a:latin typeface="Consolas"/>
              </a:rPr>
              <a:t>nilA</a:t>
            </a:r>
            <a:r>
              <a:rPr sz="2000" b="0">
                <a:solidFill>
                  <a:srgbClr val="222B36"/>
                </a:solidFill>
                <a:latin typeface="Calibri"/>
              </a:rPr>
              <a:t> some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F5D9B"/>
                </a:solidFill>
                <a:latin typeface="Consolas"/>
              </a:rPr>
              <a:t>I ; A</a:t>
            </a:r>
            <a:r>
              <a:rPr sz="2000" b="0">
                <a:solidFill>
                  <a:srgbClr val="222B36"/>
                </a:solidFill>
                <a:latin typeface="Calibri"/>
              </a:rPr>
              <a:t> casa com qualquer acervo não vazio (</a:t>
            </a:r>
            <a:r>
              <a:rPr sz="2000" b="0">
                <a:solidFill>
                  <a:srgbClr val="2F5D9B"/>
                </a:solidFill>
                <a:latin typeface="Consolas"/>
              </a:rPr>
              <a:t>A = nilA</a:t>
            </a:r>
            <a:r>
              <a:rPr sz="2000" b="0">
                <a:solidFill>
                  <a:srgbClr val="222B36"/>
                </a:solidFill>
                <a:latin typeface="Calibri"/>
              </a:rPr>
              <a:t> se houver um item só)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B36"/>
                </a:solidFill>
                <a:latin typeface="Calibri"/>
              </a:rPr>
              <a:t>Só </a:t>
            </a:r>
            <a:r>
              <a:rPr sz="2000" b="1">
                <a:solidFill>
                  <a:srgbClr val="222B36"/>
                </a:solidFill>
                <a:latin typeface="Calibri"/>
              </a:rPr>
              <a:t>duas equações</a:t>
            </a:r>
            <a:r>
              <a:rPr sz="2000" b="0">
                <a:solidFill>
                  <a:srgbClr val="222B36"/>
                </a:solidFill>
                <a:latin typeface="Calibri"/>
              </a:rPr>
              <a:t> por operador: vazio e cabeça + resto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B36"/>
                </a:solidFill>
                <a:latin typeface="Calibri"/>
              </a:rPr>
              <a:t>A ordem de inserção é preservada (</a:t>
            </a:r>
            <a:r>
              <a:rPr sz="2000" b="0">
                <a:solidFill>
                  <a:srgbClr val="2F5D9B"/>
                </a:solidFill>
                <a:latin typeface="Consolas"/>
              </a:rPr>
              <a:t>;</a:t>
            </a:r>
            <a:r>
              <a:rPr sz="2000" b="0">
                <a:solidFill>
                  <a:srgbClr val="222B36"/>
                </a:solidFill>
                <a:latin typeface="Calibri"/>
              </a:rPr>
              <a:t> não é comutativo)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F5D9B"/>
                </a:solidFill>
                <a:latin typeface="Consolas"/>
              </a:rPr>
              <a:t>Usuarios</a:t>
            </a:r>
            <a:r>
              <a:rPr sz="2000" b="0">
                <a:solidFill>
                  <a:srgbClr val="222B36"/>
                </a:solidFill>
                <a:latin typeface="Calibri"/>
              </a:rPr>
              <a:t> (</a:t>
            </a:r>
            <a:r>
              <a:rPr sz="2000" b="0">
                <a:solidFill>
                  <a:srgbClr val="2F5D9B"/>
                </a:solidFill>
                <a:latin typeface="Consolas"/>
              </a:rPr>
              <a:t>nilU</a:t>
            </a:r>
            <a:r>
              <a:rPr sz="2000" b="0">
                <a:solidFill>
                  <a:srgbClr val="222B36"/>
                </a:solidFill>
                <a:latin typeface="Calibri"/>
              </a:rPr>
              <a:t>, </a:t>
            </a:r>
            <a:r>
              <a:rPr sz="2000" b="0">
                <a:solidFill>
                  <a:srgbClr val="2F5D9B"/>
                </a:solidFill>
                <a:latin typeface="Consolas"/>
              </a:rPr>
              <a:t>_&amp;_</a:t>
            </a:r>
            <a:r>
              <a:rPr sz="2000" b="0">
                <a:solidFill>
                  <a:srgbClr val="222B36"/>
                </a:solidFill>
                <a:latin typeface="Calibri"/>
              </a:rPr>
              <a:t>) é outro monóide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Relação usuário–livro dentro do 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6858000" cy="1056131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5448" rIns="155448" tIns="109728" b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FFA657"/>
                </a:solidFill>
                <a:latin typeface="Consolas"/>
              </a:rPr>
              <a:t>op</a:t>
            </a:r>
            <a:r>
              <a:rPr sz="1800">
                <a:solidFill>
                  <a:srgbClr val="E6EDF3"/>
                </a:solidFill>
                <a:latin typeface="Consolas"/>
              </a:rPr>
              <a:t> disponivel : -&gt; Status </a:t>
            </a:r>
            <a:r>
              <a:rPr sz="1800">
                <a:solidFill>
                  <a:srgbClr val="56D3B0"/>
                </a:solidFill>
                <a:latin typeface="Consolas"/>
              </a:rPr>
              <a:t>[ctor]</a:t>
            </a:r>
            <a:r>
              <a:rPr sz="1800">
                <a:solidFill>
                  <a:srgbClr val="E6EDF3"/>
                </a:solidFill>
                <a:latin typeface="Consolas"/>
              </a:rPr>
              <a:t>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FFA657"/>
                </a:solidFill>
                <a:latin typeface="Consolas"/>
              </a:rPr>
              <a:t>op</a:t>
            </a:r>
            <a:r>
              <a:rPr sz="1800">
                <a:solidFill>
                  <a:srgbClr val="E6EDF3"/>
                </a:solidFill>
                <a:latin typeface="Consolas"/>
              </a:rPr>
              <a:t> emprestado : IdUsuario -&gt; Status </a:t>
            </a:r>
            <a:r>
              <a:rPr sz="1800">
                <a:solidFill>
                  <a:srgbClr val="56D3B0"/>
                </a:solidFill>
                <a:latin typeface="Consolas"/>
              </a:rPr>
              <a:t>[ctor]</a:t>
            </a:r>
            <a:r>
              <a:rPr sz="1800">
                <a:solidFill>
                  <a:srgbClr val="E6EDF3"/>
                </a:solidFill>
                <a:latin typeface="Consolas"/>
              </a:rPr>
              <a:t>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FFA657"/>
                </a:solidFill>
                <a:latin typeface="Consolas"/>
              </a:rPr>
              <a:t>op</a:t>
            </a:r>
            <a:r>
              <a:rPr sz="1800">
                <a:solidFill>
                  <a:srgbClr val="E6EDF3"/>
                </a:solidFill>
                <a:latin typeface="Consolas"/>
              </a:rPr>
              <a:t> item : IdLivro String Status -&gt; Item </a:t>
            </a:r>
            <a:r>
              <a:rPr sz="1800">
                <a:solidFill>
                  <a:srgbClr val="56D3B0"/>
                </a:solidFill>
                <a:latin typeface="Consolas"/>
              </a:rPr>
              <a:t>[ctor]</a:t>
            </a:r>
            <a:r>
              <a:rPr sz="1800">
                <a:solidFill>
                  <a:srgbClr val="E6EDF3"/>
                </a:solidFill>
                <a:latin typeface="Consolas"/>
              </a:rPr>
              <a:t> 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4932"/>
            <a:ext cx="685800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2F5D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F5D9B"/>
                </a:solidFill>
                <a:latin typeface="Calibri"/>
              </a:rPr>
              <a:t>Exemplo (Ana, usuário 1, está com o livro 1)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2F5D9B"/>
                </a:solidFill>
                <a:latin typeface="Consolas"/>
              </a:rPr>
              <a:t>item(livro(1), "Dom Casmurro", emprestado(usuario(1)))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22292"/>
            <a:ext cx="6858000" cy="1211071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5448" rIns="155448" tIns="109728" b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8B98A9"/>
                </a:solidFill>
                <a:latin typeface="Consolas"/>
              </a:rPr>
              <a:t>*** R7: contagem separada por status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FFA657"/>
                </a:solidFill>
                <a:latin typeface="Consolas"/>
              </a:rPr>
              <a:t>eq</a:t>
            </a:r>
            <a:r>
              <a:rPr sz="1600">
                <a:solidFill>
                  <a:srgbClr val="E6EDF3"/>
                </a:solidFill>
                <a:latin typeface="Consolas"/>
              </a:rPr>
              <a:t> contagemOk?(B) =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  (qtdDisponiveis(B) + qtdEmprestados(B))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nsolas"/>
              </a:rPr>
              <a:t>  == totalLivros(B)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931920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222B36"/>
                </a:solidFill>
                <a:latin typeface="Calibri"/>
              </a:rPr>
              <a:t>Vantagens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222B36"/>
                </a:solidFill>
                <a:latin typeface="Calibri"/>
              </a:rPr>
              <a:t>Um livro tem </a:t>
            </a:r>
            <a:r>
              <a:rPr sz="1900" b="1">
                <a:solidFill>
                  <a:srgbClr val="222B36"/>
                </a:solidFill>
                <a:latin typeface="Calibri"/>
              </a:rPr>
              <a:t>um único dono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222B36"/>
                </a:solidFill>
                <a:latin typeface="Calibri"/>
              </a:rPr>
              <a:t>R7 não trivial</a:t>
            </a:r>
            <a:r>
              <a:rPr sz="1900" b="0">
                <a:solidFill>
                  <a:srgbClr val="222B36"/>
                </a:solidFill>
                <a:latin typeface="Calibri"/>
              </a:rPr>
              <a:t>: </a:t>
            </a:r>
            <a:r>
              <a:rPr sz="1900" b="0">
                <a:solidFill>
                  <a:srgbClr val="2F5D9B"/>
                </a:solidFill>
                <a:latin typeface="Consolas"/>
              </a:rPr>
              <a:t>qtdDisponiveis</a:t>
            </a:r>
            <a:r>
              <a:rPr sz="1900" b="0">
                <a:solidFill>
                  <a:srgbClr val="222B36"/>
                </a:solidFill>
                <a:latin typeface="Calibri"/>
              </a:rPr>
              <a:t> e </a:t>
            </a:r>
            <a:r>
              <a:rPr sz="1900" b="0">
                <a:solidFill>
                  <a:srgbClr val="2F5D9B"/>
                </a:solidFill>
                <a:latin typeface="Consolas"/>
              </a:rPr>
              <a:t>qtdEmprestados</a:t>
            </a:r>
            <a:r>
              <a:rPr sz="1900" b="0">
                <a:solidFill>
                  <a:srgbClr val="222B36"/>
                </a:solidFill>
                <a:latin typeface="Calibri"/>
              </a:rPr>
              <a:t> são calculadas separadamente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222B36"/>
                </a:solidFill>
                <a:latin typeface="Calibri"/>
              </a:rPr>
              <a:t>Vários livros por usuário: vários itens </a:t>
            </a:r>
            <a:r>
              <a:rPr sz="1900" b="0">
                <a:solidFill>
                  <a:srgbClr val="2F5D9B"/>
                </a:solidFill>
                <a:latin typeface="Consolas"/>
              </a:rPr>
              <a:t>emprestado(U)</a:t>
            </a:r>
            <a:r>
              <a:rPr sz="1900" b="0">
                <a:solidFill>
                  <a:srgbClr val="222B36"/>
                </a:solidFill>
                <a:latin typeface="Calibri"/>
              </a:rPr>
              <a:t>  (</a:t>
            </a:r>
            <a:r>
              <a:rPr sz="1900" b="0">
                <a:solidFill>
                  <a:srgbClr val="2F5D9B"/>
                </a:solidFill>
                <a:latin typeface="Consolas"/>
              </a:rPr>
              <a:t>livrosDe</a:t>
            </a:r>
            <a:r>
              <a:rPr sz="1900" b="0">
                <a:solidFill>
                  <a:srgbClr val="222B36"/>
                </a:solidFill>
                <a:latin typeface="Calibri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222B36"/>
                </a:solidFill>
                <a:latin typeface="Calibri"/>
              </a:rPr>
              <a:t>Sem tabela extra para manter sincronizada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Equações: recursão sobre o monóide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6858000" cy="2698495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5448" rIns="155448" tIns="109728" b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existeA?(nilA, L) = false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existeA?(I ; A, L) =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(getId(I) == L) or existeA?(A, L)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buscarA(nilA, L) = livroInexistente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buscarA(I ; A, L) =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</a:t>
            </a:r>
            <a:r>
              <a:rPr sz="2000">
                <a:solidFill>
                  <a:srgbClr val="FFA657"/>
                </a:solidFill>
                <a:latin typeface="Consolas"/>
              </a:rPr>
              <a:t>if</a:t>
            </a:r>
            <a:r>
              <a:rPr sz="2000">
                <a:solidFill>
                  <a:srgbClr val="E6EDF3"/>
                </a:solidFill>
                <a:latin typeface="Consolas"/>
              </a:rPr>
              <a:t> getId(I) == L </a:t>
            </a:r>
            <a:r>
              <a:rPr sz="2000">
                <a:solidFill>
                  <a:srgbClr val="FFA657"/>
                </a:solidFill>
                <a:latin typeface="Consolas"/>
              </a:rPr>
              <a:t>then</a:t>
            </a:r>
            <a:r>
              <a:rPr sz="2000">
                <a:solidFill>
                  <a:srgbClr val="E6EDF3"/>
                </a:solidFill>
                <a:latin typeface="Consolas"/>
              </a:rPr>
              <a:t> 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</a:t>
            </a:r>
            <a:r>
              <a:rPr sz="2000">
                <a:solidFill>
                  <a:srgbClr val="FFA657"/>
                </a:solidFill>
                <a:latin typeface="Consolas"/>
              </a:rPr>
              <a:t>else</a:t>
            </a:r>
            <a:r>
              <a:rPr sz="2000">
                <a:solidFill>
                  <a:srgbClr val="E6EDF3"/>
                </a:solidFill>
                <a:latin typeface="Consolas"/>
              </a:rPr>
              <a:t> buscarA(A, L) </a:t>
            </a:r>
            <a:r>
              <a:rPr sz="2000">
                <a:solidFill>
                  <a:srgbClr val="FFA657"/>
                </a:solidFill>
                <a:latin typeface="Consolas"/>
              </a:rPr>
              <a:t>fi</a:t>
            </a:r>
            <a:r>
              <a:rPr sz="2000">
                <a:solidFill>
                  <a:srgbClr val="E6EDF3"/>
                </a:solidFill>
                <a:latin typeface="Consolas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1463040"/>
          <a:ext cx="4114800" cy="23185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743200"/>
              </a:tblGrid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Exemplo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Vazio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existeA?(nilA, L) = false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Não vazio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cabeça ou resto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Inexistente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percorre tudo: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false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/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livroInexistente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Fronteira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item único: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A = nilA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; primeiro e último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481575"/>
            <a:ext cx="68580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5B6573"/>
                </a:solidFill>
                <a:latin typeface="Calibri"/>
              </a:rPr>
              <a:t>Mesmo esquema em </a:t>
            </a:r>
            <a:r>
              <a:rPr sz="1900" b="0">
                <a:solidFill>
                  <a:srgbClr val="5B6573"/>
                </a:solidFill>
                <a:latin typeface="Consolas"/>
              </a:rPr>
              <a:t>totalA</a:t>
            </a:r>
            <a:r>
              <a:rPr sz="1900" b="0">
                <a:solidFill>
                  <a:srgbClr val="5B6573"/>
                </a:solidFill>
                <a:latin typeface="Calibri"/>
              </a:rPr>
              <a:t>, </a:t>
            </a:r>
            <a:r>
              <a:rPr sz="1900" b="0">
                <a:solidFill>
                  <a:srgbClr val="5B6573"/>
                </a:solidFill>
                <a:latin typeface="Consolas"/>
              </a:rPr>
              <a:t>possuiA?</a:t>
            </a:r>
            <a:r>
              <a:rPr sz="1900" b="0">
                <a:solidFill>
                  <a:srgbClr val="5B6573"/>
                </a:solidFill>
                <a:latin typeface="Calibri"/>
              </a:rPr>
              <a:t>, </a:t>
            </a:r>
            <a:r>
              <a:rPr sz="1900" b="0">
                <a:solidFill>
                  <a:srgbClr val="5B6573"/>
                </a:solidFill>
                <a:latin typeface="Consolas"/>
              </a:rPr>
              <a:t>livrosDeA</a:t>
            </a:r>
            <a:r>
              <a:rPr sz="1900" b="0">
                <a:solidFill>
                  <a:srgbClr val="5B6573"/>
                </a:solidFill>
                <a:latin typeface="Calibri"/>
              </a:rPr>
              <a:t>, </a:t>
            </a:r>
            <a:r>
              <a:rPr sz="1900" b="0">
                <a:solidFill>
                  <a:srgbClr val="5B6573"/>
                </a:solidFill>
                <a:latin typeface="Consolas"/>
              </a:rPr>
              <a:t>removerA</a:t>
            </a:r>
            <a:r>
              <a:rPr sz="1900" b="0">
                <a:solidFill>
                  <a:srgbClr val="5B6573"/>
                </a:solidFill>
                <a:latin typeface="Calibri"/>
              </a:rPr>
              <a:t>, </a:t>
            </a:r>
            <a:r>
              <a:rPr sz="1900" b="0">
                <a:solidFill>
                  <a:srgbClr val="5B6573"/>
                </a:solidFill>
                <a:latin typeface="Consolas"/>
              </a:rPr>
              <a:t>definirStatus</a:t>
            </a:r>
            <a:r>
              <a:rPr sz="1900" b="0">
                <a:solidFill>
                  <a:srgbClr val="5B6573"/>
                </a:solidFill>
                <a:latin typeface="Calibri"/>
              </a:rPr>
              <a:t>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Regras viram guardas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7498079" cy="3318255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5448" rIns="155448" tIns="109728" b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podeEmprestar?(B, L, U) =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existeUsuario?(B, U) and pertence?(B, L)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and disponivel?(B, L)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and (qtdDe(B, U) &lt; limiteEmprestimos) 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FFA657"/>
                </a:solidFill>
                <a:latin typeface="Consolas"/>
              </a:rPr>
              <a:t>eq</a:t>
            </a:r>
            <a:r>
              <a:rPr sz="2000">
                <a:solidFill>
                  <a:srgbClr val="E6EDF3"/>
                </a:solidFill>
                <a:latin typeface="Consolas"/>
              </a:rPr>
              <a:t> emprestar(biblioteca(A, Us), L, U) =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</a:t>
            </a:r>
            <a:r>
              <a:rPr sz="2000">
                <a:solidFill>
                  <a:srgbClr val="FFA657"/>
                </a:solidFill>
                <a:latin typeface="Consolas"/>
              </a:rPr>
              <a:t>if</a:t>
            </a:r>
            <a:r>
              <a:rPr sz="2000">
                <a:solidFill>
                  <a:srgbClr val="E6EDF3"/>
                </a:solidFill>
                <a:latin typeface="Consolas"/>
              </a:rPr>
              <a:t> podeEmprestar?(biblioteca(A, Us), L, U)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</a:t>
            </a:r>
            <a:r>
              <a:rPr sz="2000">
                <a:solidFill>
                  <a:srgbClr val="FFA657"/>
                </a:solidFill>
                <a:latin typeface="Consolas"/>
              </a:rPr>
              <a:t>then</a:t>
            </a:r>
            <a:r>
              <a:rPr sz="2000">
                <a:solidFill>
                  <a:srgbClr val="E6EDF3"/>
                </a:solidFill>
                <a:latin typeface="Consolas"/>
              </a:rPr>
              <a:t> biblioteca(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       definirStatus(A, L, emprestado(U)), Us)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>
                <a:solidFill>
                  <a:srgbClr val="E6EDF3"/>
                </a:solidFill>
                <a:latin typeface="Consolas"/>
              </a:rPr>
              <a:t>  </a:t>
            </a:r>
            <a:r>
              <a:rPr sz="2000">
                <a:solidFill>
                  <a:srgbClr val="FFA657"/>
                </a:solidFill>
                <a:latin typeface="Consolas"/>
              </a:rPr>
              <a:t>else</a:t>
            </a:r>
            <a:r>
              <a:rPr sz="2000">
                <a:solidFill>
                  <a:srgbClr val="E6EDF3"/>
                </a:solidFill>
                <a:latin typeface="Consolas"/>
              </a:rPr>
              <a:t> biblioteca(A, Us) </a:t>
            </a:r>
            <a:r>
              <a:rPr sz="2000">
                <a:solidFill>
                  <a:srgbClr val="FFA657"/>
                </a:solidFill>
                <a:latin typeface="Consolas"/>
              </a:rPr>
              <a:t>fi</a:t>
            </a:r>
            <a:r>
              <a:rPr sz="2000">
                <a:solidFill>
                  <a:srgbClr val="E6EDF3"/>
                </a:solidFill>
                <a:latin typeface="Consolas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0" y="1417320"/>
          <a:ext cx="3474720" cy="191389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743200"/>
              </a:tblGrid>
              <a:tr h="38277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Condição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8277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22B36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B36"/>
                          </a:solidFill>
                          <a:latin typeface="Calibri"/>
                        </a:rPr>
                        <a:t>usuário registrado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277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22B36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B36"/>
                          </a:solidFill>
                          <a:latin typeface="Calibri"/>
                        </a:rPr>
                        <a:t>livro pertence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8277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22B36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B36"/>
                          </a:solidFill>
                          <a:latin typeface="Calibri"/>
                        </a:rPr>
                        <a:t>livro disponível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277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22B36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22B36"/>
                          </a:solidFill>
                          <a:latin typeface="Calibri"/>
                        </a:rPr>
                        <a:t>menos de 3 livros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64176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6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Guarda falsa ⇒ ramo </a:t>
            </a:r>
            <a:r>
              <a:rPr sz="1900" b="0">
                <a:solidFill>
                  <a:srgbClr val="2F5D9B"/>
                </a:solidFill>
                <a:latin typeface="Consolas"/>
              </a:rPr>
              <a:t>else</a:t>
            </a:r>
            <a:r>
              <a:rPr sz="1900" b="0">
                <a:solidFill>
                  <a:srgbClr val="222B36"/>
                </a:solidFill>
                <a:latin typeface="Calibri"/>
              </a:rPr>
              <a:t> ⇒ </a:t>
            </a:r>
            <a:r>
              <a:rPr sz="1900" b="1">
                <a:solidFill>
                  <a:srgbClr val="222B36"/>
                </a:solidFill>
                <a:latin typeface="Calibri"/>
              </a:rPr>
              <a:t>estado inalterado</a:t>
            </a:r>
            <a:r>
              <a:rPr sz="1900" b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 marL="256032" indent="-256032">
              <a:spcAft>
                <a:spcPts val="600"/>
              </a:spcAft>
              <a:buChar char="•"/>
            </a:pPr>
            <a:r>
              <a:rPr sz="1900" b="0">
                <a:solidFill>
                  <a:srgbClr val="222B36"/>
                </a:solidFill>
                <a:latin typeface="Calibri"/>
              </a:rPr>
              <a:t>R3: </a:t>
            </a:r>
            <a:r>
              <a:rPr sz="1900" b="0">
                <a:solidFill>
                  <a:srgbClr val="2F5D9B"/>
                </a:solidFill>
                <a:latin typeface="Consolas"/>
              </a:rPr>
              <a:t>devolver</a:t>
            </a:r>
            <a:r>
              <a:rPr sz="1900" b="0">
                <a:solidFill>
                  <a:srgbClr val="222B36"/>
                </a:solidFill>
                <a:latin typeface="Calibri"/>
              </a:rPr>
              <a:t> chama </a:t>
            </a:r>
            <a:r>
              <a:rPr sz="1900" b="0">
                <a:solidFill>
                  <a:srgbClr val="2F5D9B"/>
                </a:solidFill>
                <a:latin typeface="Consolas"/>
              </a:rPr>
              <a:t>definirStatus(A, L, disponivel)</a:t>
            </a:r>
            <a:r>
              <a:rPr sz="19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Situações inválidas: 10 casos tratados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4045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822960"/>
                <a:gridCol w="3566160"/>
                <a:gridCol w="1554480"/>
              </a:tblGrid>
              <a:tr h="367792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Situação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Erro explícito (</a:t>
                      </a:r>
                      <a:r>
                        <a:rPr sz="1600" b="1">
                          <a:solidFill>
                            <a:srgbClr val="FFFFFF"/>
                          </a:solidFill>
                          <a:latin typeface="Consolas"/>
                        </a:rPr>
                        <a:t>diagX</a:t>
                      </a:r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Teste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Emprestar livro inexistente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errLivroInexistente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[36]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Emprestar livro já emprestado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errLivroJaEmprestado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[37] [38]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Devolver livro não emprestado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errNaoEmprestadoAoUsuario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[39]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Devolver livro de outro usuário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errNaoEmprestadoAoUsuario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[40]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Remover livro emprestado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errLivroEmprestado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[41]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I6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Adicionar id repetido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R6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errIdRepetido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[43]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Registrar usuário repetido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errUsuarioRepetido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[45]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I8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Emprestar a usuário não registrado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errUsuarioInexistente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[46]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Remover usuário com livros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errUsuarioComLivros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[47]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I10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Passar do limite de empréstimos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onsolas"/>
                        </a:rPr>
                        <a:t>errLimiteExcedido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[49]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508751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A41"/>
                </a:solidFill>
                <a:latin typeface="Calibri"/>
              </a:rPr>
              <a:t>Política: </a:t>
            </a:r>
            <a:r>
              <a:rPr sz="1800" b="1">
                <a:solidFill>
                  <a:srgbClr val="1B2A41"/>
                </a:solidFill>
                <a:latin typeface="Calibri"/>
              </a:rPr>
              <a:t>estado inalterado</a:t>
            </a:r>
            <a:r>
              <a:rPr sz="1800" b="0">
                <a:solidFill>
                  <a:srgbClr val="1B2A41"/>
                </a:solidFill>
                <a:latin typeface="Calibri"/>
              </a:rPr>
              <a:t>  +  </a:t>
            </a:r>
            <a:r>
              <a:rPr sz="1800" b="1">
                <a:solidFill>
                  <a:srgbClr val="1B2A41"/>
                </a:solidFill>
                <a:latin typeface="Calibri"/>
              </a:rPr>
              <a:t>erro explícito</a:t>
            </a:r>
            <a:r>
              <a:rPr sz="1800" b="0">
                <a:solidFill>
                  <a:srgbClr val="1B2A41"/>
                </a:solidFill>
                <a:latin typeface="Calibri"/>
              </a:rPr>
              <a:t> em </a:t>
            </a:r>
            <a:r>
              <a:rPr sz="1800" b="0">
                <a:solidFill>
                  <a:srgbClr val="1B2A41"/>
                </a:solidFill>
                <a:latin typeface="Consolas"/>
              </a:rPr>
              <a:t>diagX</a:t>
            </a:r>
            <a:r>
              <a:rPr sz="1800" b="0">
                <a:solidFill>
                  <a:srgbClr val="1B2A41"/>
                </a:solidFill>
                <a:latin typeface="Calibri"/>
              </a:rPr>
              <a:t> e em </a:t>
            </a:r>
            <a:r>
              <a:rPr sz="1800" b="0">
                <a:solidFill>
                  <a:srgbClr val="1B2A41"/>
                </a:solidFill>
                <a:latin typeface="Consolas"/>
              </a:rPr>
              <a:t>buscar</a:t>
            </a:r>
            <a:r>
              <a:rPr sz="1800" b="0">
                <a:solidFill>
                  <a:srgbClr val="1B2A41"/>
                </a:solidFill>
                <a:latin typeface="Calibri"/>
              </a:rPr>
              <a:t> (</a:t>
            </a:r>
            <a:r>
              <a:rPr sz="1800" b="0">
                <a:solidFill>
                  <a:srgbClr val="1B2A41"/>
                </a:solidFill>
                <a:latin typeface="Consolas"/>
              </a:rPr>
              <a:t>livroInexistente</a:t>
            </a:r>
            <a:r>
              <a:rPr sz="1800" b="0">
                <a:solidFill>
                  <a:srgbClr val="1B2A41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Demonstração ao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74066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0" rIns="137160" tIns="91440" bIns="9144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6EDF3"/>
                </a:solidFill>
                <a:latin typeface="Consolas"/>
              </a:rPr>
              <a:t>$ cd src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6EDF3"/>
                </a:solidFill>
                <a:latin typeface="Consolas"/>
              </a:rPr>
              <a:t>$ maude -no-banner demo-biblioteca.maude &lt; /dev/null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77440"/>
          <a:ext cx="11064240" cy="279120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760720"/>
                <a:gridCol w="2194560"/>
                <a:gridCol w="2377440"/>
              </a:tblGrid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Nº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Termo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Mostra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[1]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totalLivros(lib0)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consulta básica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77595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[24]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totalLivros(addLivro(lib0, l6, "O chamado de Cthulhu")) == totalLivros(lib0) + 1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exemplo-guia (P1)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[37]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emprestar(lib1, l1, bruno) == lib1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R2: estado inalterado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77595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[55]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diagEmprestar(lib1, l1, bruno)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errLivroJaEmprestado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erro explícito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577595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[71]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idsUnicos?(ruim1)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invariante em estado inválido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97246"/>
            <a:ext cx="110642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600"/>
              </a:spcAft>
              <a:buChar char="•"/>
            </a:pPr>
            <a:r>
              <a:rPr sz="1800" b="0">
                <a:solidFill>
                  <a:srgbClr val="2F5D9B"/>
                </a:solidFill>
                <a:latin typeface="Consolas"/>
              </a:rPr>
              <a:t>lib1</a:t>
            </a:r>
            <a:r>
              <a:rPr sz="1800" b="0">
                <a:solidFill>
                  <a:srgbClr val="222B36"/>
                </a:solidFill>
                <a:latin typeface="Calibri"/>
              </a:rPr>
              <a:t>: Ana pega l1, l2, l4 · Bruno pega e devolve l3 · Carla pega l3 · entra o l6 (Cthulhu).</a:t>
            </a:r>
          </a:p>
          <a:p>
            <a:pPr algn="l" marL="256032" indent="-256032">
              <a:spcAft>
                <a:spcPts val="600"/>
              </a:spcAft>
              <a:buChar char="•"/>
            </a:pPr>
            <a:r>
              <a:rPr sz="1800" b="0">
                <a:solidFill>
                  <a:srgbClr val="222B36"/>
                </a:solidFill>
                <a:latin typeface="Calibri"/>
              </a:rPr>
              <a:t>Resultado: </a:t>
            </a:r>
            <a:r>
              <a:rPr sz="1800" b="1">
                <a:solidFill>
                  <a:srgbClr val="222B36"/>
                </a:solidFill>
                <a:latin typeface="Calibri"/>
              </a:rPr>
              <a:t>6 livros, 4 emprestados, 2 disponíveis</a:t>
            </a:r>
            <a:r>
              <a:rPr sz="18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Reescrita passo a passo: exemplo “Cthulhu”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B2A41"/>
                </a:solidFill>
                <a:latin typeface="Consolas"/>
              </a:rPr>
              <a:t>totalLivros(addLivro(B, l6, "O chamado de Cthulhu"))</a:t>
            </a:r>
            <a:r>
              <a:rPr sz="1800" b="0">
                <a:solidFill>
                  <a:srgbClr val="1B2A41"/>
                </a:solidFill>
                <a:latin typeface="Calibri"/>
              </a:rPr>
              <a:t>   com   B = 1 livro (l1) e 1 usuário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246964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7040880"/>
                <a:gridCol w="3474720"/>
              </a:tblGrid>
              <a:tr h="352806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Reescrita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Equação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addLivro(B, l6, …)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if podeAddLivro?(B, l6) then B' else B fi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addLivro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podeAddLivro?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not pertence?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existeA?(item(l1…), l6)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podeAddLivro?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,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pertence?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existeA?(nilA, l6) or livro(1) == livro(6)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existeA?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(A = nilA)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not false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true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; 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if true then B' else B fi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B'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Bool,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if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totalLivros(B')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totalA(item(l1…) ; item(l6…))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totalLivros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1 + (1 + totalA(nilA))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1 + 1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→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totalA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(2×),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_+_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18481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1F8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B2A41"/>
                </a:solidFill>
                <a:latin typeface="Calibri"/>
              </a:rPr>
              <a:t>20 reescritas  ·  resultado </a:t>
            </a:r>
            <a:r>
              <a:rPr sz="2200" b="1">
                <a:solidFill>
                  <a:srgbClr val="1B2A41"/>
                </a:solidFill>
                <a:latin typeface="Consolas"/>
              </a:rPr>
              <a:t>2</a:t>
            </a:r>
            <a:r>
              <a:rPr sz="2200" b="1">
                <a:solidFill>
                  <a:srgbClr val="1B2A41"/>
                </a:solidFill>
                <a:latin typeface="Calibri"/>
              </a:rPr>
              <a:t> = </a:t>
            </a:r>
            <a:r>
              <a:rPr sz="2200" b="1">
                <a:solidFill>
                  <a:srgbClr val="1B2A41"/>
                </a:solidFill>
                <a:latin typeface="Consolas"/>
              </a:rPr>
              <a:t>totalLivros(B) + 1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Propriedades e provas por indução estrutural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3165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5029200"/>
                <a:gridCol w="5394960"/>
              </a:tblGrid>
              <a:tr h="367792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Propriedade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Ideia da prova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totalLivros(addLivro(B,x)) = totalLivros(B) + 1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se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x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é novo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lema: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totalA(A ; C) = totalA(A) + totalA(C)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, por indução em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devolver(emprestar(B,l,u),l,u) = B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se o empréstimo era permitido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definirStatus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repetido fica com o último status; o livro estava disponível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guarda falsa ⇒ estado inalterado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direto de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if false then a else b fi = 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P4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R7 vale em </a:t>
                      </a:r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todo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estado (logo é preservada)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indução em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A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: cada item é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disponivel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ou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emprestado(U)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, e cada caso soma 1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60756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22B36"/>
                          </a:solidFill>
                          <a:latin typeface="Calibri"/>
                        </a:rPr>
                        <a:t>P5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addLivro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preserva ids únicos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lema: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idsUnicosA?(A ; I) = idsUnicosA?(A) ∧ ¬existeA?(A, getId(I))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20336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600"/>
              </a:spcAft>
              <a:buChar char="•"/>
            </a:pPr>
            <a:r>
              <a:rPr sz="1700" b="0">
                <a:solidFill>
                  <a:srgbClr val="222B36"/>
                </a:solidFill>
                <a:latin typeface="Calibri"/>
              </a:rPr>
              <a:t>Variável livre (</a:t>
            </a:r>
            <a:r>
              <a:rPr sz="1700" b="0">
                <a:solidFill>
                  <a:srgbClr val="2F5D9B"/>
                </a:solidFill>
                <a:latin typeface="Consolas"/>
              </a:rPr>
              <a:t>b : Biblioteca</a:t>
            </a:r>
            <a:r>
              <a:rPr sz="1700" b="0">
                <a:solidFill>
                  <a:srgbClr val="222B36"/>
                </a:solidFill>
                <a:latin typeface="Calibri"/>
              </a:rPr>
              <a:t>) não reduz em Maude: as guardas dependem da forma de </a:t>
            </a:r>
            <a:r>
              <a:rPr sz="1700" b="0">
                <a:solidFill>
                  <a:srgbClr val="2F5D9B"/>
                </a:solidFill>
                <a:latin typeface="Consolas"/>
              </a:rPr>
              <a:t>b</a:t>
            </a:r>
            <a:r>
              <a:rPr sz="1700" b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 marL="256032" indent="-256032">
              <a:spcAft>
                <a:spcPts val="600"/>
              </a:spcAft>
              <a:buChar char="•"/>
            </a:pPr>
            <a:r>
              <a:rPr sz="1700" b="0">
                <a:solidFill>
                  <a:srgbClr val="222B36"/>
                </a:solidFill>
                <a:latin typeface="Calibri"/>
              </a:rPr>
              <a:t>Por isso: </a:t>
            </a:r>
            <a:r>
              <a:rPr sz="1700" b="1">
                <a:solidFill>
                  <a:srgbClr val="222B36"/>
                </a:solidFill>
                <a:latin typeface="Calibri"/>
              </a:rPr>
              <a:t>prova em papel</a:t>
            </a:r>
            <a:r>
              <a:rPr sz="1700" b="0">
                <a:solidFill>
                  <a:srgbClr val="222B36"/>
                </a:solidFill>
                <a:latin typeface="Calibri"/>
              </a:rPr>
              <a:t> (indução) + </a:t>
            </a:r>
            <a:r>
              <a:rPr sz="1700" b="1">
                <a:solidFill>
                  <a:srgbClr val="222B36"/>
                </a:solidFill>
                <a:latin typeface="Calibri"/>
              </a:rPr>
              <a:t>instâncias concretas</a:t>
            </a:r>
            <a:r>
              <a:rPr sz="1700" b="0">
                <a:solidFill>
                  <a:srgbClr val="222B36"/>
                </a:solidFill>
                <a:latin typeface="Calibri"/>
              </a:rPr>
              <a:t> na demo e no teste aleatório.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Como verificamos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75</a:t>
            </a:r>
          </a:p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testes na demo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0 divergências com o </a:t>
            </a:r>
            <a:r>
              <a:rPr sz="1600" b="0">
                <a:solidFill>
                  <a:srgbClr val="FFFFFF"/>
                </a:solidFill>
                <a:latin typeface="Consolas"/>
              </a:rPr>
              <a:t>*** esperado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6304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2F5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2000</a:t>
            </a:r>
          </a:p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históricos aleatórios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24000 checagens, 0 falhas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6304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falhas detectadas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ao quebrar a guarda E4 (teste de mutação)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206240"/>
          <a:ext cx="11064240" cy="14711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760720"/>
                <a:gridCol w="5303520"/>
              </a:tblGrid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Checagem do teste aleatório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Garante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invariante?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verdadeiro em todo estado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P4, P5, R6, R7, E1, E3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forma normal só com construtores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suficiente completude (empírica)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67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podeX?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⇔ </a:t>
                      </a:r>
                      <a:r>
                        <a:rPr sz="1600" b="0">
                          <a:solidFill>
                            <a:srgbClr val="2F5D9B"/>
                          </a:solidFill>
                          <a:latin typeface="Consolas"/>
                        </a:rPr>
                        <a:t>diagX == ok</a:t>
                      </a:r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 ⇔ estado muda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22B36"/>
                          </a:solidFill>
                          <a:latin typeface="Calibri"/>
                        </a:rPr>
                        <a:t>guardas coerentes (P3)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Análise e limitações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1F8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50292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F8A70"/>
                </a:solidFill>
                <a:latin typeface="Calibri"/>
              </a:rPr>
              <a:t>O que a especificação cobre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0292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11 funcionalidades, R1–R7 e E1–E4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10 situações inválidas, todas tratadas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Coleções como monóides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Invariantes testáveis (R6, R7)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Erro explícito sem perder o estado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Propriedades provadas por indução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4805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81328"/>
            <a:ext cx="502920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07A1F"/>
                </a:solidFill>
                <a:latin typeface="Calibri"/>
              </a:rPr>
              <a:t>Não modelado /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Datas, multas, reservas, renovação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Múltiplos exemplares por título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Perfis de usuário e concorrência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Suficiente completude só verificada empiricamente (sem ferramenta SCC)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Provas feitas em papel, não mecanizadas</a:t>
            </a:r>
          </a:p>
          <a:p>
            <a:pPr algn="l" marL="256032" indent="-256032">
              <a:spcAft>
                <a:spcPts val="800"/>
              </a:spcAft>
              <a:buChar char="•"/>
            </a:pPr>
            <a:r>
              <a:rPr sz="2000" b="0">
                <a:solidFill>
                  <a:srgbClr val="222B36"/>
                </a:solidFill>
                <a:latin typeface="Calibri"/>
              </a:rPr>
              <a:t>Limite de 3 empréstimos é arbitrário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Conclusão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spcAft>
                <a:spcPts val="1200"/>
              </a:spcAft>
              <a:buChar char="•"/>
            </a:pPr>
            <a:r>
              <a:rPr sz="2200" b="0">
                <a:solidFill>
                  <a:srgbClr val="222B36"/>
                </a:solidFill>
                <a:latin typeface="Calibri"/>
              </a:rPr>
              <a:t>A cadeia </a:t>
            </a:r>
            <a:r>
              <a:rPr sz="2200" b="1">
                <a:solidFill>
                  <a:srgbClr val="222B36"/>
                </a:solidFill>
                <a:latin typeface="Calibri"/>
              </a:rPr>
              <a:t>informal → abstração → assinatura → equações → termos → propriedades</a:t>
            </a:r>
            <a:r>
              <a:rPr sz="2200" b="0">
                <a:solidFill>
                  <a:srgbClr val="222B36"/>
                </a:solidFill>
                <a:latin typeface="Calibri"/>
              </a:rPr>
              <a:t> foi percorrida inteira</a:t>
            </a:r>
          </a:p>
          <a:p>
            <a:pPr algn="l" marL="256032" indent="-256032">
              <a:spcAft>
                <a:spcPts val="1200"/>
              </a:spcAft>
              <a:buChar char="•"/>
            </a:pPr>
            <a:r>
              <a:rPr sz="2200" b="0">
                <a:solidFill>
                  <a:srgbClr val="222B36"/>
                </a:solidFill>
                <a:latin typeface="Calibri"/>
              </a:rPr>
              <a:t>Uma </a:t>
            </a:r>
            <a:r>
              <a:rPr sz="2200" b="1">
                <a:solidFill>
                  <a:srgbClr val="222B36"/>
                </a:solidFill>
                <a:latin typeface="Calibri"/>
              </a:rPr>
              <a:t>álgebra de construtores</a:t>
            </a:r>
            <a:r>
              <a:rPr sz="2200" b="0">
                <a:solidFill>
                  <a:srgbClr val="222B36"/>
                </a:solidFill>
                <a:latin typeface="Calibri"/>
              </a:rPr>
              <a:t> com operadores definidos por equações; dois </a:t>
            </a:r>
            <a:r>
              <a:rPr sz="2200" b="1">
                <a:solidFill>
                  <a:srgbClr val="222B36"/>
                </a:solidFill>
                <a:latin typeface="Calibri"/>
              </a:rPr>
              <a:t>monóides</a:t>
            </a:r>
            <a:r>
              <a:rPr sz="2200" b="0">
                <a:solidFill>
                  <a:srgbClr val="222B36"/>
                </a:solidFill>
                <a:latin typeface="Calibri"/>
              </a:rPr>
              <a:t> para as coleções</a:t>
            </a:r>
          </a:p>
          <a:p>
            <a:pPr algn="l" marL="256032" indent="-256032">
              <a:spcAft>
                <a:spcPts val="1200"/>
              </a:spcAft>
              <a:buChar char="•"/>
            </a:pPr>
            <a:r>
              <a:rPr sz="2200" b="0">
                <a:solidFill>
                  <a:srgbClr val="2F5D9B"/>
                </a:solidFill>
                <a:latin typeface="Consolas"/>
              </a:rPr>
              <a:t>Status</a:t>
            </a:r>
            <a:r>
              <a:rPr sz="2200" b="0">
                <a:solidFill>
                  <a:srgbClr val="222B36"/>
                </a:solidFill>
                <a:latin typeface="Calibri"/>
              </a:rPr>
              <a:t> embute a relação usuário–livro e torna </a:t>
            </a:r>
            <a:r>
              <a:rPr sz="2200" b="1">
                <a:solidFill>
                  <a:srgbClr val="222B36"/>
                </a:solidFill>
                <a:latin typeface="Calibri"/>
              </a:rPr>
              <a:t>R7</a:t>
            </a:r>
            <a:r>
              <a:rPr sz="2200" b="0">
                <a:solidFill>
                  <a:srgbClr val="222B36"/>
                </a:solidFill>
                <a:latin typeface="Calibri"/>
              </a:rPr>
              <a:t> uma propriedade não trivial</a:t>
            </a:r>
          </a:p>
          <a:p>
            <a:pPr algn="l" marL="256032" indent="-256032">
              <a:spcAft>
                <a:spcPts val="1200"/>
              </a:spcAft>
              <a:buChar char="•"/>
            </a:pPr>
            <a:r>
              <a:rPr sz="2200" b="0">
                <a:solidFill>
                  <a:srgbClr val="222B36"/>
                </a:solidFill>
                <a:latin typeface="Calibri"/>
              </a:rPr>
              <a:t>Operações inválidas: </a:t>
            </a:r>
            <a:r>
              <a:rPr sz="2200" b="1">
                <a:solidFill>
                  <a:srgbClr val="222B36"/>
                </a:solidFill>
                <a:latin typeface="Calibri"/>
              </a:rPr>
              <a:t>estado inalterado</a:t>
            </a:r>
            <a:r>
              <a:rPr sz="2200" b="0">
                <a:solidFill>
                  <a:srgbClr val="222B36"/>
                </a:solidFill>
                <a:latin typeface="Calibri"/>
              </a:rPr>
              <a:t> + </a:t>
            </a:r>
            <a:r>
              <a:rPr sz="2200" b="1">
                <a:solidFill>
                  <a:srgbClr val="222B36"/>
                </a:solidFill>
                <a:latin typeface="Calibri"/>
              </a:rPr>
              <a:t>erro explícito</a:t>
            </a:r>
          </a:p>
          <a:p>
            <a:pPr algn="l" marL="256032" indent="-256032">
              <a:spcAft>
                <a:spcPts val="1200"/>
              </a:spcAft>
              <a:buChar char="•"/>
            </a:pPr>
            <a:r>
              <a:rPr sz="2200" b="1">
                <a:solidFill>
                  <a:srgbClr val="222B36"/>
                </a:solidFill>
                <a:latin typeface="Calibri"/>
              </a:rPr>
              <a:t>75 testes</a:t>
            </a:r>
            <a:r>
              <a:rPr sz="2200" b="0">
                <a:solidFill>
                  <a:srgbClr val="222B36"/>
                </a:solidFill>
                <a:latin typeface="Calibri"/>
              </a:rPr>
              <a:t> e </a:t>
            </a:r>
            <a:r>
              <a:rPr sz="2200" b="1">
                <a:solidFill>
                  <a:srgbClr val="222B36"/>
                </a:solidFill>
                <a:latin typeface="Calibri"/>
              </a:rPr>
              <a:t>2000 históricos aleatórios</a:t>
            </a:r>
            <a:r>
              <a:rPr sz="2200" b="0">
                <a:solidFill>
                  <a:srgbClr val="222B36"/>
                </a:solidFill>
                <a:latin typeface="Calibri"/>
              </a:rPr>
              <a:t> com o Maude real, sem divergências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Perguntas?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B2A41"/>
                </a:solidFill>
                <a:latin typeface="Calibri"/>
              </a:rPr>
              <a:t>Backup: mecanismos do Maude e seu significado formal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188720" cy="6400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B6573"/>
                </a:solidFill>
                <a:latin typeface="Calibri"/>
              </a:rPr>
              <a:t>Especificação algébrica de um sistema de biblioteca em Maude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B6573"/>
                </a:solidFill>
                <a:latin typeface="Calibri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397763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8595360"/>
              </a:tblGrid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Mecanismo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Significado formal</a:t>
                      </a:r>
                    </a:p>
                  </a:txBody>
                  <a:tcPr marL="73152" marR="73152" marT="36576" marB="36576" anchor="ctr">
                    <a:solidFill>
                      <a:srgbClr val="1B2A41"/>
                    </a:solidFill>
                  </a:tcPr>
                </a:tc>
              </a:tr>
              <a:tr h="577595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fmod … endfm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semântica da </a:t>
                      </a:r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álgebra inicial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: dois termos fechados são iguais só se deduzíveis das equações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protecting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importa sem criar valores novos nem identificar valores antigos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[ctor]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marca o operador como construtor; não muda a semântica, delimita os valores canônicos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subsort A &lt; B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inclusão dos conjuntos: todo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A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também é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B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(ex.: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Item &lt; Acervo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assoc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(x * y) * z = x * (y * z)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; casamento sobre listas achatadas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id: e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 é neutro: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e * x = x = x * e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; com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assoc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, define um </a:t>
                      </a:r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monóide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if_then_else_fi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if true then a else b fi = a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, </a:t>
                      </a:r>
                      <a:r>
                        <a:rPr sz="1500" b="0">
                          <a:solidFill>
                            <a:srgbClr val="2F5D9B"/>
                          </a:solidFill>
                          <a:latin typeface="Consolas"/>
                        </a:rPr>
                        <a:t>if false then a else b fi = 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==</a:t>
                      </a:r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, </a:t>
                      </a:r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=/=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igualdade entre formas normais (sistema terminante e confluente)</a:t>
                      </a:r>
                    </a:p>
                  </a:txBody>
                  <a:tcPr marL="73152" marR="73152" marT="36576" marB="36576" anchor="ctr">
                    <a:solidFill>
                      <a:srgbClr val="E6ECF3"/>
                    </a:solidFill>
                  </a:tcPr>
                </a:tc>
              </a:tr>
              <a:tr h="577595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ceq</a:t>
                      </a:r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, </a:t>
                      </a:r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owise</a:t>
                      </a:r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, </a:t>
                      </a:r>
                      <a:r>
                        <a:rPr sz="1500" b="1">
                          <a:solidFill>
                            <a:srgbClr val="2F5D9B"/>
                          </a:solidFill>
                          <a:latin typeface="Consolas"/>
                        </a:rPr>
                        <a:t>rl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22B36"/>
                          </a:solidFill>
                          <a:latin typeface="Calibri"/>
                        </a:rPr>
                        <a:t>não usados</a:t>
                      </a:r>
                      <a:r>
                        <a:rPr sz="1500" b="0">
                          <a:solidFill>
                            <a:srgbClr val="222B36"/>
                          </a:solidFill>
                          <a:latin typeface="Calibri"/>
                        </a:rPr>
                        <a:t>: equação condicional; “se nenhuma outra casar”; regra de reescrita não equacional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